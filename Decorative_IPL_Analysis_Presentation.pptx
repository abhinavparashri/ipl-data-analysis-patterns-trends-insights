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IPL Data Analysis: Patterns, Trends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Exploring Matches &amp; Deliveries Dataset (2008–2025)</a:t>
            </a:r>
          </a:p>
          <a:p/>
          <a:p>
            <a:r>
              <a:rPr sz="1800">
                <a:solidFill>
                  <a:srgbClr val="1E1E1E"/>
                </a:solidFill>
              </a:rPr>
              <a:t>Analyzing IPL data to discover trends, performance patterns, and strategic insights.</a:t>
            </a:r>
          </a:p>
          <a:p/>
          <a:p>
            <a:r>
              <a:rPr sz="1800">
                <a:solidFill>
                  <a:srgbClr val="1E1E1E"/>
                </a:solidFill>
              </a:rPr>
              <a:t>Presented by: Abhinav Parashri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Goal: Extract meaningful insights from IPL datasets.</a:t>
            </a:r>
          </a:p>
          <a:p/>
          <a:p>
            <a:r>
              <a:rPr sz="1800">
                <a:solidFill>
                  <a:srgbClr val="1E1E1E"/>
                </a:solidFill>
              </a:rPr>
              <a:t>• Toss impact on victory</a:t>
            </a:r>
          </a:p>
          <a:p>
            <a:r>
              <a:rPr sz="1800">
                <a:solidFill>
                  <a:srgbClr val="1E1E1E"/>
                </a:solidFill>
              </a:rPr>
              <a:t>• Phase-wise match influence</a:t>
            </a:r>
          </a:p>
          <a:p>
            <a:r>
              <a:rPr sz="1800">
                <a:solidFill>
                  <a:srgbClr val="1E1E1E"/>
                </a:solidFill>
              </a:rPr>
              <a:t>• Top performers analysis</a:t>
            </a:r>
          </a:p>
          <a:p>
            <a:r>
              <a:rPr sz="1800">
                <a:solidFill>
                  <a:srgbClr val="1E1E1E"/>
                </a:solidFill>
              </a:rPr>
              <a:t>• Hidden trends &amp; venue effects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matches.csv → Season, teams, toss, winner, venue</a:t>
            </a:r>
          </a:p>
          <a:p/>
          <a:p>
            <a:r>
              <a:rPr sz="1800">
                <a:solidFill>
                  <a:srgbClr val="1E1E1E"/>
                </a:solidFill>
              </a:rPr>
              <a:t>deliveries.csv → Ball-by-ball runs, wickets, overs, batters &amp; bowlers</a:t>
            </a:r>
          </a:p>
          <a:p/>
          <a:p>
            <a:r>
              <a:rPr sz="1800">
                <a:solidFill>
                  <a:srgbClr val="1E1E1E"/>
                </a:solidFill>
              </a:rPr>
              <a:t>Dataset contains millions of ball-by-ball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Data Cleaning &amp;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• Removed duplicates</a:t>
            </a:r>
          </a:p>
          <a:p>
            <a:r>
              <a:rPr sz="1800">
                <a:solidFill>
                  <a:srgbClr val="1E1E1E"/>
                </a:solidFill>
              </a:rPr>
              <a:t>• Filled missing values</a:t>
            </a:r>
          </a:p>
          <a:p>
            <a:r>
              <a:rPr sz="1800">
                <a:solidFill>
                  <a:srgbClr val="1E1E1E"/>
                </a:solidFill>
              </a:rPr>
              <a:t>• Standardized franchise names</a:t>
            </a:r>
          </a:p>
          <a:p>
            <a:r>
              <a:rPr sz="1800">
                <a:solidFill>
                  <a:srgbClr val="1E1E1E"/>
                </a:solidFill>
              </a:rPr>
              <a:t>• Converted dates &amp; categorical data</a:t>
            </a:r>
          </a:p>
          <a:p/>
          <a:p>
            <a:r>
              <a:rPr sz="1800">
                <a:solidFill>
                  <a:srgbClr val="1E1E1E"/>
                </a:solidFill>
              </a:rPr>
              <a:t>Improved dataset consistency and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Toss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Teams winning toss win around 51–53% matches.</a:t>
            </a:r>
          </a:p>
          <a:p/>
          <a:p>
            <a:r>
              <a:rPr sz="1800">
                <a:solidFill>
                  <a:srgbClr val="1E1E1E"/>
                </a:solidFill>
              </a:rPr>
              <a:t>Toss provides a slight advantage but is not decisive.</a:t>
            </a:r>
          </a:p>
          <a:p/>
          <a:p>
            <a:r>
              <a:rPr sz="1800">
                <a:solidFill>
                  <a:srgbClr val="1E1E1E"/>
                </a:solidFill>
              </a:rPr>
              <a:t>Venue and dew conditions influence chasing success.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114800" cy="40031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Phase-wise Match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Powerplay: Early momentum</a:t>
            </a:r>
          </a:p>
          <a:p>
            <a:r>
              <a:rPr sz="1800">
                <a:solidFill>
                  <a:srgbClr val="1E1E1E"/>
                </a:solidFill>
              </a:rPr>
              <a:t>Middle Overs: Stability control</a:t>
            </a:r>
          </a:p>
          <a:p>
            <a:r>
              <a:rPr sz="1800">
                <a:solidFill>
                  <a:srgbClr val="1E1E1E"/>
                </a:solidFill>
              </a:rPr>
              <a:t>Death Overs: Explosive scoring phase</a:t>
            </a:r>
          </a:p>
          <a:p/>
          <a:p>
            <a:r>
              <a:rPr sz="1800">
                <a:solidFill>
                  <a:srgbClr val="1E1E1E"/>
                </a:solidFill>
              </a:rPr>
              <a:t>Death overs contribute most match-defining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114800" cy="3158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Top Batters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Virat Kohli → Consistency</a:t>
            </a:r>
          </a:p>
          <a:p>
            <a:r>
              <a:rPr sz="1800">
                <a:solidFill>
                  <a:srgbClr val="1E1E1E"/>
                </a:solidFill>
              </a:rPr>
              <a:t>Chris Gayle → Powerplay dominance</a:t>
            </a:r>
          </a:p>
          <a:p>
            <a:r>
              <a:rPr sz="1800">
                <a:solidFill>
                  <a:srgbClr val="1E1E1E"/>
                </a:solidFill>
              </a:rPr>
              <a:t>AB de Villiers → Death overs specialist</a:t>
            </a:r>
          </a:p>
          <a:p>
            <a:r>
              <a:rPr sz="1800">
                <a:solidFill>
                  <a:srgbClr val="1E1E1E"/>
                </a:solidFill>
              </a:rPr>
              <a:t>David Warner → Reliable opener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114800" cy="2876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Top Bowlers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Lasith Malinga → Highest wickets</a:t>
            </a:r>
          </a:p>
          <a:p>
            <a:r>
              <a:rPr sz="1800">
                <a:solidFill>
                  <a:srgbClr val="1E1E1E"/>
                </a:solidFill>
              </a:rPr>
              <a:t>Jasprit Bumrah → Death overs specialist</a:t>
            </a:r>
          </a:p>
          <a:p>
            <a:r>
              <a:rPr sz="1800">
                <a:solidFill>
                  <a:srgbClr val="1E1E1E"/>
                </a:solidFill>
              </a:rPr>
              <a:t>Sunil Narine → Economy master</a:t>
            </a:r>
          </a:p>
          <a:p>
            <a:r>
              <a:rPr sz="1800">
                <a:solidFill>
                  <a:srgbClr val="1E1E1E"/>
                </a:solidFill>
              </a:rPr>
              <a:t>Rashid Khan → Middle overs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Hidden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• Chasing teams dominate certain venues</a:t>
            </a:r>
          </a:p>
          <a:p>
            <a:r>
              <a:rPr sz="1800">
                <a:solidFill>
                  <a:srgbClr val="1E1E1E"/>
                </a:solidFill>
              </a:rPr>
              <a:t>• IPL scoring rates increasing yearly</a:t>
            </a:r>
          </a:p>
          <a:p>
            <a:r>
              <a:rPr sz="1800">
                <a:solidFill>
                  <a:srgbClr val="1E1E1E"/>
                </a:solidFill>
              </a:rPr>
              <a:t>• Dew factor affects second innings</a:t>
            </a:r>
          </a:p>
          <a:p>
            <a:r>
              <a:rPr sz="1800">
                <a:solidFill>
                  <a:srgbClr val="1E1E1E"/>
                </a:solidFill>
              </a:rPr>
              <a:t>• Matchups influence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• Toss has marginal impact</a:t>
            </a:r>
          </a:p>
          <a:p>
            <a:r>
              <a:rPr sz="1800">
                <a:solidFill>
                  <a:srgbClr val="1E1E1E"/>
                </a:solidFill>
              </a:rPr>
              <a:t>• Death overs are most crucial</a:t>
            </a:r>
          </a:p>
          <a:p>
            <a:r>
              <a:rPr sz="1800">
                <a:solidFill>
                  <a:srgbClr val="1E1E1E"/>
                </a:solidFill>
              </a:rPr>
              <a:t>• Venue conditions strongly matter</a:t>
            </a:r>
          </a:p>
          <a:p>
            <a:r>
              <a:rPr sz="1800">
                <a:solidFill>
                  <a:srgbClr val="1E1E1E"/>
                </a:solidFill>
              </a:rPr>
              <a:t>• IPL evolved into high-scoring tournament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731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E1E1E"/>
                </a:solidFill>
              </a:rPr>
              <a:t>• Machine learning winner prediction</a:t>
            </a:r>
          </a:p>
          <a:p>
            <a:r>
              <a:rPr sz="1800">
                <a:solidFill>
                  <a:srgbClr val="1E1E1E"/>
                </a:solidFill>
              </a:rPr>
              <a:t>• Advanced player matchup analytics</a:t>
            </a:r>
          </a:p>
          <a:p>
            <a:r>
              <a:rPr sz="1800">
                <a:solidFill>
                  <a:srgbClr val="1E1E1E"/>
                </a:solidFill>
              </a:rPr>
              <a:t>• Venue-specific strategies</a:t>
            </a:r>
          </a:p>
          <a:p>
            <a:r>
              <a:rPr sz="1800">
                <a:solidFill>
                  <a:srgbClr val="1E1E1E"/>
                </a:solidFill>
              </a:rPr>
              <a:t>• Real-time dashboard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0" y="914400"/>
            <a:ext cx="914400" cy="4572000"/>
          </a:xfrm>
          <a:prstGeom prst="roundRect">
            <a:avLst/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